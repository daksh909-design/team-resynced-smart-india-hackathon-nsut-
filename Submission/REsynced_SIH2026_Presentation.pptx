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191F26"/>
                </a:solidFill>
                <a:latin typeface="Garamond"/>
              </a:rPr>
              <a:t>RAILPULSE
DYNAMIC TRAIN ETA FORECASTING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 anchor="t"/>
          <a:lstStyle/>
          <a:p>
            <a:pPr algn="ctr"/>
            <a:r>
              <a:rPr sz="3400" b="1">
                <a:solidFill>
                  <a:srgbClr val="1F4A7E"/>
                </a:solidFill>
                <a:latin typeface="Garamond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91F26"/>
                </a:solidFill>
                <a:latin typeface="Arial"/>
              </a:defRPr>
            </a:pPr>
            <a:r>
              <a:t>• Problem Statement ID: SIH26028</a:t>
            </a:r>
            <a:endParaRPr lang="en-US" dirty="0"/>
          </a:p>
          <a:p>
            <a:pPr>
              <a:spcAft>
                <a:spcPts val="600"/>
              </a:spcAft>
              <a:defRPr sz="1300" b="0">
                <a:solidFill>
                  <a:srgbClr val="191F26"/>
                </a:solidFill>
                <a:latin typeface="Arial"/>
              </a:defRPr>
            </a:pPr>
            <a:r>
              <a:t>• Problem Statement Title: Dynamic Forecast of Expected Time of Arrival (ETA) for Coaching Trains</a:t>
            </a:r>
          </a:p>
          <a:p>
            <a:pPr>
              <a:spcAft>
                <a:spcPts val="600"/>
              </a:spcAft>
              <a:defRPr sz="1600" b="0">
                <a:solidFill>
                  <a:srgbClr val="191F26"/>
                </a:solidFill>
                <a:latin typeface="Arial"/>
              </a:defRPr>
            </a:pPr>
            <a:r>
              <a:t>• Theme: Smart Automation</a:t>
            </a:r>
          </a:p>
          <a:p>
            <a:pPr>
              <a:spcAft>
                <a:spcPts val="600"/>
              </a:spcAft>
              <a:defRPr sz="1600" b="0">
                <a:solidFill>
                  <a:srgbClr val="191F26"/>
                </a:solidFill>
                <a:latin typeface="Arial"/>
              </a:defRPr>
            </a:pPr>
            <a:r>
              <a:t>• PS Category: Software</a:t>
            </a:r>
          </a:p>
          <a:p>
            <a:pPr>
              <a:spcAft>
                <a:spcPts val="600"/>
              </a:spcAft>
              <a:defRPr sz="1600" b="0">
                <a:solidFill>
                  <a:srgbClr val="191F26"/>
                </a:solidFill>
                <a:latin typeface="Arial"/>
              </a:defRPr>
            </a:pPr>
            <a:r>
              <a:t>• Team ID: Not provided</a:t>
            </a:r>
          </a:p>
          <a:p>
            <a:pPr>
              <a:spcAft>
                <a:spcPts val="600"/>
              </a:spcAft>
              <a:defRPr sz="1600" b="1">
                <a:solidFill>
                  <a:srgbClr val="191F26"/>
                </a:solidFill>
                <a:latin typeface="Arial"/>
              </a:defRPr>
            </a:pPr>
            <a:r>
              <a:t>• Team Name: REsynced</a:t>
            </a:r>
          </a:p>
          <a:p>
            <a:pPr>
              <a:spcAft>
                <a:spcPts val="600"/>
              </a:spcAft>
              <a:defRPr sz="1600" b="0">
                <a:solidFill>
                  <a:srgbClr val="191F26"/>
                </a:solidFill>
                <a:latin typeface="Arial"/>
              </a:defRPr>
            </a:pPr>
            <a:r>
              <a:t>• Organization: Ministry of Railways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ounded Rectangle 1026"/>
          <p:cNvSpPr/>
          <p:nvPr/>
        </p:nvSpPr>
        <p:spPr>
          <a:xfrm>
            <a:off x="411480" y="5166360"/>
            <a:ext cx="5394960" cy="86868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TextBox 1027"/>
          <p:cNvSpPr txBox="1"/>
          <p:nvPr/>
        </p:nvSpPr>
        <p:spPr>
          <a:xfrm>
            <a:off x="594360" y="5285232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4A7E"/>
                </a:solidFill>
                <a:latin typeface="Arial"/>
              </a:rPr>
              <a:t>TEAM REsynced  •  TEAM LEADER: Daksh Sachdev</a:t>
            </a:r>
          </a:p>
        </p:txBody>
      </p:sp>
      <p:sp>
        <p:nvSpPr>
          <p:cNvPr id="1029" name="TextBox 1028"/>
          <p:cNvSpPr txBox="1"/>
          <p:nvPr/>
        </p:nvSpPr>
        <p:spPr>
          <a:xfrm>
            <a:off x="594360" y="55321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91F26"/>
                </a:solidFill>
                <a:latin typeface="Arial"/>
              </a:rPr>
              <a:t>Parth  •  Sneha  •  Jatin Jarwal  •  Ritesh Kumar  •  Aditya Amit Kumar  •  Daksh Sachdev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1051560" y="16459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F4A7E"/>
                </a:solidFill>
                <a:latin typeface="Garamond"/>
              </a:rPr>
              <a:t>SMART INDIA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anchor="t"/>
          <a:lstStyle/>
          <a:p>
            <a:pPr eaLnBrk="1" hangingPunct="1" algn="ctr"/>
            <a:r>
              <a:rPr sz="2500" b="1">
                <a:solidFill>
                  <a:srgbClr val="191F26"/>
                </a:solidFill>
                <a:latin typeface="Times New Roman"/>
              </a:rPr>
              <a:t>RAILPULSE — DYNAMIC TRAIN ETA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600200"/>
            <a:ext cx="61722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v"/>
              <a:defRPr sz="1400" b="1">
                <a:solidFill>
                  <a:srgbClr val="0070C0"/>
                </a:solidFill>
                <a:latin typeface="Arial"/>
              </a:defRPr>
            </a:pPr>
            <a: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200"/>
              </a:spcAft>
              <a:defRPr sz="1100">
                <a:solidFill>
                  <a:srgbClr val="191F26"/>
                </a:solidFill>
                <a:latin typeface="Arial"/>
              </a:defRPr>
            </a:pPr>
            <a:r>
              <a:t>• RailPulse converts live running-status snapshots into ETA forecasts for every upcoming halting station.</a:t>
            </a:r>
          </a:p>
          <a:p>
            <a:pPr>
              <a:spcAft>
                <a:spcPts val="200"/>
              </a:spcAft>
              <a:defRPr sz="1100">
                <a:solidFill>
                  <a:srgbClr val="191F26"/>
                </a:solidFill>
                <a:latin typeface="Arial"/>
              </a:defRPr>
            </a:pPr>
            <a:r>
              <a:t>• Predicts arrival delay from current delay, speed, route progress, remaining distance, station/train context and weather.</a:t>
            </a:r>
          </a:p>
          <a:p>
            <a:pPr>
              <a:spcAft>
                <a:spcPts val="200"/>
              </a:spcAft>
              <a:defRPr sz="1100">
                <a:solidFill>
                  <a:srgbClr val="191F26"/>
                </a:solidFill>
                <a:latin typeface="Arial"/>
              </a:defRPr>
            </a:pPr>
            <a:r>
              <a:t>• Returns a point ETA plus an uncertainty window instead of simply carrying the current delay forward.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70C0"/>
                </a:solidFill>
                <a:latin typeface="Arial"/>
              </a:defRPr>
            </a:pPr>
            <a:r>
              <a:t>HOW IT ADDRESSES THE PROBLEM</a:t>
            </a:r>
          </a:p>
          <a:p>
            <a:pPr>
              <a:spcAft>
                <a:spcPts val="200"/>
              </a:spcAft>
              <a:defRPr sz="1100">
                <a:solidFill>
                  <a:srgbClr val="191F26"/>
                </a:solidFill>
                <a:latin typeface="Arial"/>
              </a:defRPr>
            </a:pPr>
            <a:r>
              <a:t>• Updates predictions as the train moves, so downstream ETAs reflect recovery or propagation of delay.</a:t>
            </a:r>
          </a:p>
          <a:p>
            <a:pPr>
              <a:spcAft>
                <a:spcPts val="200"/>
              </a:spcAft>
              <a:defRPr sz="1100">
                <a:solidFill>
                  <a:srgbClr val="191F26"/>
                </a:solidFill>
                <a:latin typeface="Arial"/>
              </a:defRPr>
            </a:pPr>
            <a:r>
              <a:t>• Uses point-in-time historical features to avoid future-information leakage.</a:t>
            </a:r>
          </a:p>
          <a:p>
            <a:pPr>
              <a:spcAft>
                <a:spcPts val="200"/>
              </a:spcAft>
              <a:defRPr sz="1100">
                <a:solidFill>
                  <a:srgbClr val="191F26"/>
                </a:solidFill>
                <a:latin typeface="Arial"/>
              </a:defRPr>
            </a:pPr>
            <a:r>
              <a:t>• Provides prediction mode + confidence so users can distinguish dynamic/transition forecasts from cold-start priors.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70C0"/>
                </a:solidFill>
                <a:latin typeface="Arial"/>
              </a:defRPr>
            </a:pPr>
            <a:r>
              <a:t>INNOVATION &amp; UNIQUENESS</a:t>
            </a:r>
          </a:p>
          <a:p>
            <a:pPr>
              <a:spcAft>
                <a:spcPts val="200"/>
              </a:spcAft>
              <a:defRPr sz="1100">
                <a:solidFill>
                  <a:srgbClr val="191F26"/>
                </a:solidFill>
                <a:latin typeface="Arial"/>
              </a:defRPr>
            </a:pPr>
            <a:r>
              <a:t>• Leakage-safe, snapshot-based learning pipeline using actual later arrivals as labels.</a:t>
            </a:r>
          </a:p>
          <a:p>
            <a:pPr>
              <a:spcAft>
                <a:spcPts val="200"/>
              </a:spcAft>
              <a:defRPr sz="1100">
                <a:solidFill>
                  <a:srgbClr val="191F26"/>
                </a:solidFill>
                <a:latin typeface="Arial"/>
              </a:defRPr>
            </a:pPr>
            <a:r>
              <a:t>• Residual transition model uses upstream observed delay for the next few stops.</a:t>
            </a:r>
          </a:p>
          <a:p>
            <a:pPr>
              <a:spcAft>
                <a:spcPts val="200"/>
              </a:spcAft>
              <a:defRPr sz="1100">
                <a:solidFill>
                  <a:srgbClr val="191F26"/>
                </a:solidFill>
                <a:latin typeface="Arial"/>
              </a:defRPr>
            </a:pPr>
            <a:r>
              <a:t>• Split-conformal uncertainty intervals make ETA uncertainty visible and actionable.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A7E"/>
                </a:solidFill>
                <a:latin typeface="Arial"/>
              </a:rPr>
              <a:t>REsynced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Rounded Rectangle 15362"/>
          <p:cNvSpPr/>
          <p:nvPr/>
        </p:nvSpPr>
        <p:spPr>
          <a:xfrm>
            <a:off x="6903720" y="1691640"/>
            <a:ext cx="4297680" cy="566928"/>
          </a:xfrm>
          <a:prstGeom prst="roundRect">
            <a:avLst/>
          </a:prstGeom>
          <a:solidFill>
            <a:srgbClr val="E8F2FB"/>
          </a:solidFill>
          <a:ln>
            <a:solidFill>
              <a:srgbClr val="1F4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7068312" y="17647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A7E"/>
                </a:solidFill>
                <a:latin typeface="Arial"/>
              </a:rPr>
              <a:t>LIVE STATUS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8412480" y="1755648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91F26"/>
                </a:solidFill>
                <a:latin typeface="Arial"/>
              </a:rPr>
              <a:t>delay • speed • progress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8869680" y="2258568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70C0"/>
                </a:solidFill>
                <a:latin typeface="Arial"/>
              </a:rPr>
              <a:t>↓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903720" y="2441448"/>
            <a:ext cx="4297680" cy="566928"/>
          </a:xfrm>
          <a:prstGeom prst="roundRect">
            <a:avLst/>
          </a:prstGeom>
          <a:solidFill>
            <a:srgbClr val="E8F2FB"/>
          </a:solidFill>
          <a:ln>
            <a:solidFill>
              <a:srgbClr val="1F4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7068312" y="251460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A7E"/>
                </a:solidFill>
                <a:latin typeface="Arial"/>
              </a:rPr>
              <a:t>FEATURE ENGINE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8412480" y="2505456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91F26"/>
                </a:solidFill>
                <a:latin typeface="Arial"/>
              </a:rPr>
              <a:t>route • station • weather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869680" y="3008376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70C0"/>
                </a:solidFill>
                <a:latin typeface="Arial"/>
              </a:rPr>
              <a:t>↓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903720" y="3191256"/>
            <a:ext cx="4297680" cy="566928"/>
          </a:xfrm>
          <a:prstGeom prst="roundRect">
            <a:avLst/>
          </a:prstGeom>
          <a:solidFill>
            <a:srgbClr val="E8F2FB"/>
          </a:solidFill>
          <a:ln>
            <a:solidFill>
              <a:srgbClr val="1F4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7068312" y="3264408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A7E"/>
                </a:solidFill>
                <a:latin typeface="Arial"/>
              </a:rPr>
              <a:t>ETA MODEL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8412480" y="3255264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91F26"/>
                </a:solidFill>
                <a:latin typeface="Arial"/>
              </a:rPr>
              <a:t>LightGBM + transition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8869680" y="3758184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70C0"/>
                </a:solidFill>
                <a:latin typeface="Arial"/>
              </a:rPr>
              <a:t>↓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6903720" y="3941064"/>
            <a:ext cx="4297680" cy="566928"/>
          </a:xfrm>
          <a:prstGeom prst="roundRect">
            <a:avLst/>
          </a:prstGeom>
          <a:solidFill>
            <a:srgbClr val="E7F6EE"/>
          </a:solidFill>
          <a:ln>
            <a:solidFill>
              <a:srgbClr val="1F4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7068312" y="4014216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A7E"/>
                </a:solidFill>
                <a:latin typeface="Arial"/>
              </a:rPr>
              <a:t>OUTPUT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8412480" y="4005072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91F26"/>
                </a:solidFill>
                <a:latin typeface="Arial"/>
              </a:rPr>
              <a:t>ETA + lower/upper bound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6903720" y="4800600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68252"/>
                </a:solidFill>
                <a:latin typeface="Arial"/>
              </a:rPr>
              <a:t>Prototype: RailPulse web interface + FastAPI ETA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 algn="ctr"/>
            <a:r>
              <a:rPr sz="2500" b="1">
                <a:solidFill>
                  <a:srgbClr val="191F26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600200"/>
            <a:ext cx="3154680" cy="3977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500" b="1">
                <a:solidFill>
                  <a:srgbClr val="0070C0"/>
                </a:solidFill>
                <a:latin typeface="Arial"/>
              </a:defRPr>
            </a:pPr>
            <a:r>
              <a:t>TECHNOLOGIES</a:t>
            </a:r>
          </a:p>
          <a:p>
            <a:pPr>
              <a:spcAft>
                <a:spcPts val="2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Python 3.11–3.14</a:t>
            </a:r>
          </a:p>
          <a:p>
            <a:pPr>
              <a:spcAft>
                <a:spcPts val="2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FastAPI for the prediction API</a:t>
            </a:r>
          </a:p>
          <a:p>
            <a:pPr>
              <a:spcAft>
                <a:spcPts val="2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scikit-learn + LightGBM</a:t>
            </a:r>
          </a:p>
          <a:p>
            <a:pPr>
              <a:spcAft>
                <a:spcPts val="2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Pandas / Joblib</a:t>
            </a:r>
          </a:p>
          <a:p>
            <a:pPr>
              <a:spcAft>
                <a:spcPts val="2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HTML / CSS / JavaScript web UI</a:t>
            </a:r>
          </a:p>
          <a:p>
            <a:pPr>
              <a:spcAft>
                <a:spcPts val="2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RailRadar live-status connector</a:t>
            </a:r>
          </a:p>
          <a:p>
            <a:pPr>
              <a:spcAft>
                <a:spcPts val="2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Open-Meteo current weather</a:t>
            </a:r>
          </a:p>
          <a:p>
            <a:pPr>
              <a:spcBef>
                <a:spcPts val="600"/>
              </a:spcBef>
              <a:defRPr sz="1500" b="1">
                <a:solidFill>
                  <a:srgbClr val="0070C0"/>
                </a:solidFill>
                <a:latin typeface="Arial"/>
              </a:defRPr>
            </a:pPr>
            <a:r>
              <a:t>METHODOLOGY</a:t>
            </a:r>
          </a:p>
          <a:p>
            <a:pPr>
              <a:spcAft>
                <a:spcPts val="200"/>
              </a:spcAft>
              <a:defRPr sz="1080">
                <a:solidFill>
                  <a:srgbClr val="191F26"/>
                </a:solidFill>
                <a:latin typeface="Arial"/>
              </a:defRPr>
            </a:pPr>
            <a:r>
              <a:t>• Capture immutable snapshots → later actual arrivals become labels.</a:t>
            </a:r>
          </a:p>
          <a:p>
            <a:pPr>
              <a:spcAft>
                <a:spcPts val="200"/>
              </a:spcAft>
              <a:defRPr sz="1080">
                <a:solidFill>
                  <a:srgbClr val="191F26"/>
                </a:solidFill>
                <a:latin typeface="Arial"/>
              </a:defRPr>
            </a:pPr>
            <a:r>
              <a:t>• Build point-in-time features; split chronologically 70/15/15.</a:t>
            </a:r>
          </a:p>
          <a:p>
            <a:pPr>
              <a:spcAft>
                <a:spcPts val="200"/>
              </a:spcAft>
              <a:defRPr sz="1080">
                <a:solidFill>
                  <a:srgbClr val="191F26"/>
                </a:solidFill>
                <a:latin typeface="Arial"/>
              </a:defRPr>
            </a:pPr>
            <a:r>
              <a:t>• Train baseline + regularised LightGBM; calibrate prediction intervals.</a:t>
            </a:r>
          </a:p>
          <a:p>
            <a:pPr>
              <a:spcAft>
                <a:spcPts val="200"/>
              </a:spcAft>
              <a:defRPr sz="1080">
                <a:solidFill>
                  <a:srgbClr val="191F26"/>
                </a:solidFill>
                <a:latin typeface="Arial"/>
              </a:defRPr>
            </a:pPr>
            <a:r>
              <a:t>• Serve ETA + uncertainty and persist serving snapshots for future training.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A7E"/>
                </a:solidFill>
                <a:latin typeface="Arial"/>
              </a:rPr>
              <a:t>REsynced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3977639" y="160020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70C0"/>
                </a:solidFill>
                <a:latin typeface="Arial"/>
              </a:rPr>
              <a:t>END-TO-END DATA → MODEL → ETA FLOW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977639" y="2148840"/>
            <a:ext cx="1965960" cy="960120"/>
          </a:xfrm>
          <a:prstGeom prst="roundRect">
            <a:avLst/>
          </a:prstGeom>
          <a:solidFill>
            <a:srgbClr val="E8F2FB"/>
          </a:solidFill>
          <a:ln>
            <a:solidFill>
              <a:srgbClr val="1F4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050791" y="2240280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4A7E"/>
                </a:solidFill>
                <a:latin typeface="Arial"/>
              </a:rPr>
              <a:t>LIVE FEED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050791" y="2514600"/>
            <a:ext cx="18196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191F26"/>
                </a:solidFill>
                <a:latin typeface="Arial"/>
              </a:rPr>
              <a:t>RailRadar
running status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309359" y="2148840"/>
            <a:ext cx="1965960" cy="960120"/>
          </a:xfrm>
          <a:prstGeom prst="roundRect">
            <a:avLst/>
          </a:prstGeom>
          <a:solidFill>
            <a:srgbClr val="E8F2FB"/>
          </a:solidFill>
          <a:ln>
            <a:solidFill>
              <a:srgbClr val="1F4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6382511" y="2240280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4A7E"/>
                </a:solidFill>
                <a:latin typeface="Arial"/>
              </a:rPr>
              <a:t>SNAPSHOTS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382511" y="2514600"/>
            <a:ext cx="18196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191F26"/>
                </a:solidFill>
                <a:latin typeface="Arial"/>
              </a:rPr>
              <a:t>JSON + timestamps
weather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641079" y="2148840"/>
            <a:ext cx="1965960" cy="960120"/>
          </a:xfrm>
          <a:prstGeom prst="roundRect">
            <a:avLst/>
          </a:prstGeom>
          <a:solidFill>
            <a:srgbClr val="E8F2FB"/>
          </a:solidFill>
          <a:ln>
            <a:solidFill>
              <a:srgbClr val="1F4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8714231" y="2240280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4A7E"/>
                </a:solidFill>
                <a:latin typeface="Arial"/>
              </a:rPr>
              <a:t>FEATURES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714231" y="2514600"/>
            <a:ext cx="18196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191F26"/>
                </a:solidFill>
                <a:latin typeface="Arial"/>
              </a:rPr>
              <a:t>delay • speed • route
station • congestion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977639" y="3749040"/>
            <a:ext cx="1965960" cy="960120"/>
          </a:xfrm>
          <a:prstGeom prst="roundRect">
            <a:avLst/>
          </a:prstGeom>
          <a:solidFill>
            <a:srgbClr val="E8F2FB"/>
          </a:solidFill>
          <a:ln>
            <a:solidFill>
              <a:srgbClr val="1F4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4050791" y="3840480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4A7E"/>
                </a:solidFill>
                <a:latin typeface="Arial"/>
              </a:rPr>
              <a:t>MODEL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050791" y="4114800"/>
            <a:ext cx="18196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191F26"/>
                </a:solidFill>
                <a:latin typeface="Arial"/>
              </a:rPr>
              <a:t>LightGBM
+ transition residual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309359" y="3749040"/>
            <a:ext cx="1965960" cy="960120"/>
          </a:xfrm>
          <a:prstGeom prst="roundRect">
            <a:avLst/>
          </a:prstGeom>
          <a:solidFill>
            <a:srgbClr val="E8F2FB"/>
          </a:solidFill>
          <a:ln>
            <a:solidFill>
              <a:srgbClr val="1F4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6382511" y="3840480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4A7E"/>
                </a:solidFill>
                <a:latin typeface="Arial"/>
              </a:rPr>
              <a:t>ETA API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382511" y="4114800"/>
            <a:ext cx="18196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191F26"/>
                </a:solidFill>
                <a:latin typeface="Arial"/>
              </a:rPr>
              <a:t>point ETA
90% interval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8641079" y="3749040"/>
            <a:ext cx="1965960" cy="960120"/>
          </a:xfrm>
          <a:prstGeom prst="roundRect">
            <a:avLst/>
          </a:prstGeom>
          <a:solidFill>
            <a:srgbClr val="E7F6EE"/>
          </a:solidFill>
          <a:ln>
            <a:solidFill>
              <a:srgbClr val="1F4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8714231" y="3840480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4A7E"/>
                </a:solidFill>
                <a:latin typeface="Arial"/>
              </a:rPr>
              <a:t>USER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714231" y="4114800"/>
            <a:ext cx="18196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191F26"/>
                </a:solidFill>
                <a:latin typeface="Arial"/>
              </a:rPr>
              <a:t>RailPulse
web / dashboard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897880" y="248716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229600" y="248716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394960" y="31089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rial"/>
              </a:rPr>
              <a:t>↓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726679" y="31089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rial"/>
              </a:rPr>
              <a:t>↓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0058400" y="31089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rial"/>
              </a:rPr>
              <a:t>↓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3977639" y="5440680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C656F"/>
                </a:solidFill>
                <a:latin typeface="Arial"/>
              </a:rPr>
              <a:t>Leakage control: future ETA / future actuals are never used as prediction-time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 algn="ctr"/>
            <a:r>
              <a:rPr sz="2500" b="1">
                <a:solidFill>
                  <a:srgbClr val="191F26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A7E"/>
                </a:solidFill>
                <a:latin typeface="Arial"/>
              </a:rPr>
              <a:t>REsynced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502920" y="1600200"/>
            <a:ext cx="315468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600200"/>
            <a:ext cx="3154680" cy="502920"/>
          </a:xfrm>
          <a:prstGeom prst="roundRect">
            <a:avLst/>
          </a:prstGeom>
          <a:solidFill>
            <a:srgbClr val="268252"/>
          </a:solidFill>
          <a:ln>
            <a:solidFill>
              <a:srgbClr val="268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12648" y="1719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67512" y="2267712"/>
            <a:ext cx="2788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Working prototype already includes FastAPI + RailPulse UI.</a:t>
            </a:r>
          </a:p>
          <a:p>
            <a:pPr>
              <a:spcAft>
                <a:spcPts val="8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Live connector, weather connector and model pipeline are implemented.</a:t>
            </a:r>
          </a:p>
          <a:p>
            <a:pPr>
              <a:spcAft>
                <a:spcPts val="8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Cold-start bootstrap prior works before sufficient live labels exist.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977639" y="1600200"/>
            <a:ext cx="315468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3977639" y="1600200"/>
            <a:ext cx="3154680" cy="50292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4087367" y="1719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CHALLENGES / RISKS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142231" y="2267712"/>
            <a:ext cx="2788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Live-provider quotas and usage permissions.</a:t>
            </a:r>
          </a:p>
          <a:p>
            <a:pPr>
              <a:spcAft>
                <a:spcPts val="8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Reporting latency, corrected timestamps and rare disruptions.</a:t>
            </a:r>
          </a:p>
          <a:p>
            <a:pPr>
              <a:spcAft>
                <a:spcPts val="8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Limited timestamped real-running history for training.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452360" y="1600200"/>
            <a:ext cx="315468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7452360" y="1600200"/>
            <a:ext cx="3154680" cy="50292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7562088" y="1719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MITIGATION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616952" y="2267712"/>
            <a:ext cx="2788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Use permitted high-volume provider / CRIS agreement for scale.</a:t>
            </a:r>
          </a:p>
          <a:p>
            <a:pPr>
              <a:spcAft>
                <a:spcPts val="8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Persist raw snapshots + availability timestamps.</a:t>
            </a:r>
          </a:p>
          <a:p>
            <a:pPr>
              <a:spcAft>
                <a:spcPts val="800"/>
              </a:spcAft>
              <a:defRPr sz="1150">
                <a:solidFill>
                  <a:srgbClr val="191F26"/>
                </a:solidFill>
                <a:latin typeface="Arial"/>
              </a:defRPr>
            </a:pPr>
            <a:r>
              <a:t>• Rolling retraining; monitor by route, zone, horizon and delay severity.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85800" y="5650992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4A7E"/>
                </a:solidFill>
                <a:latin typeface="Arial"/>
              </a:rPr>
              <a:t>Viability principle: decision-support ETA, not train-control. Uncertainty and source freshness remain visible.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 algn="ctr"/>
            <a:r>
              <a:rPr sz="2500" b="1">
                <a:solidFill>
                  <a:srgbClr val="191F26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A7E"/>
                </a:solidFill>
                <a:latin typeface="Arial"/>
              </a:rPr>
              <a:t>REsynced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5943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F4A7E"/>
                </a:solidFill>
                <a:latin typeface="Arial"/>
              </a:rPr>
              <a:t>A more useful arrival time for passengers, station teams and downstream logistics.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20116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31520" y="210312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70C0"/>
                </a:solidFill>
                <a:latin typeface="Arial"/>
              </a:rPr>
              <a:t>51.3%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31520" y="2542032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56F"/>
                </a:solidFill>
                <a:latin typeface="Arial"/>
              </a:rPr>
              <a:t>within 15 min — LightGBM on untouched train-ID holdout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383279" y="20116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3520439" y="210312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8252"/>
                </a:solidFill>
                <a:latin typeface="Arial"/>
              </a:rPr>
              <a:t>35.85 min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520439" y="2542032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56F"/>
                </a:solidFill>
                <a:latin typeface="Arial"/>
              </a:rPr>
              <a:t>MAE — LightGBM on untouched test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172200" y="20116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6309360" y="210312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E67E22"/>
                </a:solidFill>
                <a:latin typeface="Arial"/>
              </a:rPr>
              <a:t>91.0%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309360" y="2542032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56F"/>
                </a:solidFill>
                <a:latin typeface="Arial"/>
              </a:rPr>
              <a:t>within 15 min for high-confidence gated transition cases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961119" y="20116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9098279" y="210312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4A7E"/>
                </a:solidFill>
                <a:latin typeface="Arial"/>
              </a:rPr>
              <a:t>80.3%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9098279" y="2542032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56F"/>
                </a:solidFill>
                <a:latin typeface="Arial"/>
              </a:rPr>
              <a:t>coverage of the high-confidence transition gate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94360" y="3611880"/>
            <a:ext cx="5074920" cy="713232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731520" y="370332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0C0"/>
                </a:solidFill>
                <a:latin typeface="Arial"/>
              </a:rPr>
              <a:t>PASSENGERS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920240" y="3685032"/>
            <a:ext cx="3520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91F26"/>
                </a:solidFill>
                <a:latin typeface="Arial"/>
              </a:rPr>
              <a:t>Plan connections, pickups and station arrival with an ETA range.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080760" y="3611880"/>
            <a:ext cx="5074920" cy="713232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6217920" y="370332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0C0"/>
                </a:solidFill>
                <a:latin typeface="Arial"/>
              </a:rPr>
              <a:t>RAIL OPERATIONS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7406640" y="3685032"/>
            <a:ext cx="3520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91F26"/>
                </a:solidFill>
                <a:latin typeface="Arial"/>
              </a:rPr>
              <a:t>Surface evolving delay and recovery across upcoming halts.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94360" y="4526280"/>
            <a:ext cx="5074920" cy="713232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731520" y="461772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0C0"/>
                </a:solidFill>
                <a:latin typeface="Arial"/>
              </a:rPr>
              <a:t>ECONOMIC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920240" y="4599432"/>
            <a:ext cx="3520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91F26"/>
                </a:solidFill>
                <a:latin typeface="Arial"/>
              </a:rPr>
              <a:t>Reduce uncertainty for time-sensitive passenger and logistics decisions.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080760" y="4526280"/>
            <a:ext cx="5074920" cy="713232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6217920" y="461772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0C0"/>
                </a:solidFill>
                <a:latin typeface="Arial"/>
              </a:rPr>
              <a:t>TRUST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406640" y="4599432"/>
            <a:ext cx="3520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91F26"/>
                </a:solidFill>
                <a:latin typeface="Arial"/>
              </a:rPr>
              <a:t>Show confidence + freshness instead of false precision.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85800" y="546811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C656F"/>
                </a:solidFill>
                <a:latin typeface="Arial"/>
              </a:rPr>
              <a:t>Scale target: collect 3–6 months of live snapshots; expand toward 50k journeys and hundreds of thousands of labelled stop examples.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 algn="ctr"/>
            <a:r>
              <a:rPr sz="2500" b="1">
                <a:solidFill>
                  <a:srgbClr val="191F26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A7E"/>
                </a:solidFill>
                <a:latin typeface="Arial"/>
              </a:rPr>
              <a:t>REsynced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594360" y="1417320"/>
            <a:ext cx="104698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1150" b="1">
                <a:solidFill>
                  <a:srgbClr val="1F4A7E"/>
                </a:solidFill>
                <a:latin typeface="Arial"/>
              </a:defRPr>
            </a:pPr>
            <a:r>
              <a:t>1. RailRadar — live train status endpoint documentation</a:t>
            </a:r>
          </a:p>
          <a:p>
            <a:pPr>
              <a:spcAft>
                <a:spcPts val="400"/>
              </a:spcAft>
              <a:defRPr sz="850">
                <a:solidFill>
                  <a:srgbClr val="5C656F"/>
                </a:solidFill>
                <a:latin typeface="Arial"/>
              </a:defRPr>
            </a:pPr>
            <a:r>
              <a:t>https://railradar.in/docs/live-train-status</a:t>
            </a:r>
          </a:p>
          <a:p>
            <a:pPr>
              <a:spcAft>
                <a:spcPts val="100"/>
              </a:spcAft>
              <a:defRPr sz="1150" b="1">
                <a:solidFill>
                  <a:srgbClr val="1F4A7E"/>
                </a:solidFill>
                <a:latin typeface="Arial"/>
              </a:defRPr>
            </a:pPr>
            <a:r>
              <a:t>2. Government of India — Indian Railways Train Time Table catalogue</a:t>
            </a:r>
          </a:p>
          <a:p>
            <a:pPr>
              <a:spcAft>
                <a:spcPts val="400"/>
              </a:spcAft>
              <a:defRPr sz="850">
                <a:solidFill>
                  <a:srgbClr val="5C656F"/>
                </a:solidFill>
                <a:latin typeface="Arial"/>
              </a:defRPr>
            </a:pPr>
            <a:r>
              <a:t>https://www.data.gov.in/catalog/indian-railways-train-time-table</a:t>
            </a:r>
          </a:p>
          <a:p>
            <a:pPr>
              <a:spcAft>
                <a:spcPts val="100"/>
              </a:spcAft>
              <a:defRPr sz="1150" b="1">
                <a:solidFill>
                  <a:srgbClr val="1F4A7E"/>
                </a:solidFill>
                <a:latin typeface="Arial"/>
              </a:defRPr>
            </a:pPr>
            <a:r>
              <a:t>3. Open-Meteo — forecast + historical weather documentation</a:t>
            </a:r>
          </a:p>
          <a:p>
            <a:pPr>
              <a:spcAft>
                <a:spcPts val="400"/>
              </a:spcAft>
              <a:defRPr sz="850">
                <a:solidFill>
                  <a:srgbClr val="5C656F"/>
                </a:solidFill>
                <a:latin typeface="Arial"/>
              </a:defRPr>
            </a:pPr>
            <a:r>
              <a:t>https://open-meteo.com/</a:t>
            </a:r>
          </a:p>
          <a:p>
            <a:pPr>
              <a:spcAft>
                <a:spcPts val="100"/>
              </a:spcAft>
              <a:defRPr sz="1150" b="1">
                <a:solidFill>
                  <a:srgbClr val="1F4A7E"/>
                </a:solidFill>
                <a:latin typeface="Arial"/>
              </a:defRPr>
            </a:pPr>
            <a:r>
              <a:t>4. OpenStreetMap — data / ODbL attribution</a:t>
            </a:r>
          </a:p>
          <a:p>
            <a:pPr>
              <a:spcAft>
                <a:spcPts val="400"/>
              </a:spcAft>
              <a:defRPr sz="850">
                <a:solidFill>
                  <a:srgbClr val="5C656F"/>
                </a:solidFill>
                <a:latin typeface="Arial"/>
              </a:defRPr>
            </a:pPr>
            <a:r>
              <a:t>https://www.openstreetmap.org/copyright</a:t>
            </a:r>
          </a:p>
          <a:p>
            <a:pPr>
              <a:spcAft>
                <a:spcPts val="100"/>
              </a:spcAft>
              <a:defRPr sz="1150" b="1">
                <a:solidFill>
                  <a:srgbClr val="1F4A7E"/>
                </a:solidFill>
                <a:latin typeface="Arial"/>
              </a:defRPr>
            </a:pPr>
            <a:r>
              <a:t>5. Indian-Railway-Delay-Visualization — Master_3M_Delay.csv provenance</a:t>
            </a:r>
          </a:p>
          <a:p>
            <a:pPr>
              <a:spcAft>
                <a:spcPts val="400"/>
              </a:spcAft>
              <a:defRPr sz="850">
                <a:solidFill>
                  <a:srgbClr val="5C656F"/>
                </a:solidFill>
                <a:latin typeface="Arial"/>
              </a:defRPr>
            </a:pPr>
            <a:r>
              <a:t>https://github.com/adityaazad79/Indian-Railway-Delay-Visualization</a:t>
            </a:r>
          </a:p>
          <a:p>
            <a:pPr>
              <a:spcAft>
                <a:spcPts val="100"/>
              </a:spcAft>
              <a:defRPr sz="1150" b="1">
                <a:solidFill>
                  <a:srgbClr val="1F4A7E"/>
                </a:solidFill>
                <a:latin typeface="Arial"/>
              </a:defRPr>
            </a:pPr>
            <a:r>
              <a:t>6. Project engineering/model documentation — leakage-safe ETA pipeline, evaluation and limitations</a:t>
            </a:r>
          </a:p>
          <a:p>
            <a:pPr>
              <a:spcAft>
                <a:spcPts val="400"/>
              </a:spcAft>
              <a:defRPr sz="850">
                <a:solidFill>
                  <a:srgbClr val="5C656F"/>
                </a:solidFill>
                <a:latin typeface="Arial"/>
              </a:defRPr>
            </a:pPr>
            <a:r>
              <a:t>Included in submitted RailPulse project repository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85800" y="5650992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E67E22"/>
                </a:solidFill>
                <a:latin typeface="Arial"/>
              </a:rPr>
              <a:t>Data note: the included public bootstrap table has no timestamps; it is used only as a cold-start prior, not as a point-in-time live backtest.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